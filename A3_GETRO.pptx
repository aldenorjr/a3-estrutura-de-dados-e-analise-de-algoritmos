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Apresente o nome — Carona Universidades — e a frase: match inteligente de caronas universitárias em Mossoró/RN. Diga que é o projeto A3 de Estruturas de Dados, e que o diferencial é que todas as estruturas foram implementadas do zero. Apresente o grupo e a data. Tempo total ~10–12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problema. A busca por carona hoje vive em grupos de WhatsApp lotados. Conte a dor: mensagem some no scroll, não dá pra filtrar por bairro/horário/universidade, a mesma pergunta se repete, ninguém avalia motorista, e a escolha acaba sendo por sorte. O cartão à direita ilustra o caos. Esse é o ponto de partida que justifica o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solução. Em uma frase: o estudante cadastra a rota uma vez e o algoritmo encontra quem vai com ele, ranqueado por um score de 0 a 100. Suportamos quatro universidades de Mossoró: UFERSA, UERN, IFRN e UNP. Tudo gira em torno de bairro + universidade + horário.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 de entrada. O que o sistema precisa: identidade e papel (motorista ou passageiro), bairro (que é a chave da hash), universidade de destino, veículo e vagas para motoristas, a rota com horário e tipo ida/volta, e a janela de tolerância do horário na busca. Esses campos alimentam todas as estruturas.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Arquitetura. Três camadas: frontend em HTML/CSS/JS puro com mapa Leaflet e roteamento real OSRM; uma API REST em Java 17 com Spring Boot; e as estruturas de dados próprias por trás. Frisar: sem HashMap, sem Collections.sort. Tudo sobe junto com Docker Compose, em um comando.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Pipeline. Esse é o coração. Um clique em Buscar dispara cinco etapas em sequência: HASH acha os candidatos pelo bairro em O(1); GRAFO/BFS encontra o cluster de compatíveis em O(V+E); calculamos o SCORE de 0 a 100 combinando avaliação, proximidade, horário e vagas; QUICKSORT ranqueia em O(n log n); e DIJKSTRA traça o trajeto no mapa. Cada etapa vira um slide a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 Hash. Implementada do zero. Indexa usuários e rotas pelo bairro, dando busca O(1) em média — não importa se há 100 ou 10.000 estudantes. Colisões por encadeamento separado: cada balde guarda uma lista. Quando enche, dobra de tamanho e redistribui. Reforce: nada de HashMap pronto.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Hash — passo a passo. Exemplo concreto. Passo 1: a função hash transforma o nome do bairro em um índice de 0 a 7 (soma dos códigos das letras, módulo 8). Centro vai para o balde 2, Abolição para o 5, Barrocas também cai no 2 — uma colisão. Passo 2: por encadeamento separado, Barrocas entra na mesma lista de Centro no balde 2; os demais ocupam seus baldes. Passo 3: ao buscar Barrocas, recalcula o hash, vai direto ao balde 2 e percorre a cadeia curta — encontra em O(1) médio, sem varrer a lista toda.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Grafo + BFS. Compatibilidade não é sim ou não: bairros vizinhos e horários próximos se conectam. Modelamos isso como grafo em lista de adjacência — nós são bairros/horários, arestas são afinidades. A BFS parte do solicitante e percorre o componente conectado de quem dá match, em O(V+E): visita cada nó e cada aresta uma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BFS — passo a passo. Exemplo a partir de Centro (nó em terracota). A BFS usa uma fila FIFO e um conjunto de visitados. Passo 1: visita Centro e enfileira os vizinhos Abolição e Barrocas. Passo 2: tira Abolição da fila e enfileira Pintos. Passo 3: tira Barrocas e enfileira Aeroporto. Passo 4: tira Pintos, que não tem vizinho novo. Passo 5: tira Aeroporto e enfileira Bela Vista. Passo 6: tira Bela Vista e a fila esvazia. A ordem de visita dá o cluster compatível — tudo em O(V+E). Note que arestas para nós já visitados são ignoradas.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QuickSort. Os matches precisam sair ordenados, do melhor para o pior score. Usamos QuickSort próprio, divisão e conquista, com pivô no elemento do meio para evitar o pior caso O(n quadrado) em dados reais. No caso médio é O(n log n) — bem mais rápido que uma ordenação quadrática quando há muitos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QuickSort — passo a passo. Exemplo com seis scores: 82, 47, 91, 63, 38, 75. Passo 1: o pivô é o elemento do meio, 63. Passo 2: particiona — os maiores que 63 (82, 91, 75) vão para a esquerda, os menores (47, 38) para a direita, e o 63 já fica na posição final. Passo 3: cada bloco repete o mesmo processo recursivamente e concatena. Resultado: 91, 82, 75, 63, 47, 38 — ranqueado do maior para o menor score, em O(n log n) no caso médio.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Dijkstra + mapa. Depois do match, sobre um grafo ponderado de bairros calculamos o caminho mínimo motorista → passageiro → universidade e desenhamos no Leaflet. A tela mostra métricas reais: distância em km, tempo estimado e economia em reais. Complexidade O((V+E) log V) com fila de prioridade.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Eficiência. Compare lado a lado. Buscar por bairro: O(n) ingênuo vs O(1) com hash. Achar compatíveis: O(n quadrado) vs O(V+E) com BFS. Ordenar: O(n quadrado) vs O(n log n) com QuickSort. A mensagem-chave: com 10.000 estudantes, a solução ingênua levaria minutos; a nossa responde em milissegundos.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Demonstração. Mostre o sistema rodando: cadastro de usuário e rotas indexados por bairro; a busca trazendo matches por score com os badges HASH, GRAFO e QUICKSORT em cada resultado; e o mapa interativo com o trajeto do Dijkstra, km, tempo e economia. Se possível, faça uma busca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Benefícios. Cinco ganhos: econômico (divide combustível), tempo (milissegundos vs minutos), ambiental (menos carros, menos poluição), social e segurança (estudantes se conhecem e avaliam motoristas) e acadêmico (demonstração viva das estruturas de dados).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Feche com a ideia: estrutura de dados não é teoria isolada — aqui ela vira carona chegando no horário. Agradeça e abra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5EE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947737"/>
            <a:ext cx="361950" cy="361950"/>
          </a:xfrm>
          <a:prstGeom prst="ellipse">
            <a:avLst/>
          </a:prstGeom>
          <a:solidFill>
            <a:srgbClr val="D65F33"/>
          </a:solidFill>
          <a:ln/>
        </p:spPr>
      </p:sp>
      <p:sp>
        <p:nvSpPr>
          <p:cNvPr id="4" name="Text 2"/>
          <p:cNvSpPr/>
          <p:nvPr/>
        </p:nvSpPr>
        <p:spPr>
          <a:xfrm>
            <a:off x="1657350" y="914400"/>
            <a:ext cx="252427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Carona </a:t>
            </a:r>
            <a:pPr algn="l" indent="0" marL="0">
              <a:lnSpc>
                <a:spcPct val="150000"/>
              </a:lnSpc>
              <a:buNone/>
            </a:pPr>
            <a:r>
              <a:rPr lang="en-US" sz="2250" i="1" dirty="0">
                <a:solidFill>
                  <a:srgbClr val="B84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143000" y="2492425"/>
            <a:ext cx="164820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396" kern="0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 A3 · ESTRUTURAS DE DADOS E ANÁLISE DE ALGORITMOS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3159175"/>
            <a:ext cx="13488248" cy="2758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0" spc="-105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</a:t>
            </a:r>
            <a:pPr algn="l" indent="0" marL="0">
              <a:lnSpc>
                <a:spcPct val="102000"/>
              </a:lnSpc>
              <a:buNone/>
            </a:pPr>
            <a:r>
              <a:rPr lang="en-US" sz="10500" i="1" spc="-105" kern="0" dirty="0">
                <a:solidFill>
                  <a:srgbClr val="B84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inteligente </a:t>
            </a:r>
            <a:pPr algn="l" indent="0" marL="0">
              <a:lnSpc>
                <a:spcPct val="102000"/>
              </a:lnSpc>
              <a:buNone/>
            </a:pPr>
            <a:r>
              <a:rPr lang="en-US" sz="10500" spc="-105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caronas universitárias</a:t>
            </a:r>
            <a:endParaRPr lang="en-US" sz="10500" dirty="0"/>
          </a:p>
        </p:txBody>
      </p:sp>
      <p:sp>
        <p:nvSpPr>
          <p:cNvPr id="7" name="Text 5"/>
          <p:cNvSpPr/>
          <p:nvPr/>
        </p:nvSpPr>
        <p:spPr>
          <a:xfrm>
            <a:off x="1143000" y="6222355"/>
            <a:ext cx="7049484" cy="1417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5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sistema web que conecta estudantes de Mossoró/RN pela rota, pelo horário e pela universidade — não pelo scroll do WhatsApp.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43000" y="8750945"/>
            <a:ext cx="48590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252" kern="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9170045"/>
            <a:ext cx="4859081" cy="354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Integrante · Integrante · Integrante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281672" y="8750945"/>
            <a:ext cx="186332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800" spc="252" kern="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281672" y="9170045"/>
            <a:ext cx="1863328" cy="354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Junho · 2026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396" kern="0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PROBLEMA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9634463" cy="1601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0" spc="-60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carona hoje mora num grupo de </a:t>
            </a:r>
            <a:pPr algn="l" indent="0" marL="0">
              <a:lnSpc>
                <a:spcPct val="102000"/>
              </a:lnSpc>
              <a:buNone/>
            </a:pPr>
            <a:r>
              <a:rPr lang="en-US" sz="6000" i="1" spc="-60" kern="0" dirty="0">
                <a:solidFill>
                  <a:srgbClr val="B84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lotado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466850" y="4334768"/>
            <a:ext cx="791702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Mensagens se perdem no scroll — a oferta de hoje some amanhã.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466850" y="5382518"/>
            <a:ext cx="791702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filtro por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bairro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horário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universidade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466850" y="6030218"/>
            <a:ext cx="791702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pergunta — “alguém vai pra UFERSA às 7h?” — se repete dezenas de vezes.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66850" y="7077968"/>
            <a:ext cx="791702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avaliação dos motoristas: a segurança fica por conta da sorte.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466850" y="8125718"/>
            <a:ext cx="791702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escolha é por acaso, nunca por critério.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905851" y="4358580"/>
            <a:ext cx="7239000" cy="4143375"/>
          </a:xfrm>
          <a:prstGeom prst="roundRect">
            <a:avLst>
              <a:gd name="adj" fmla="val 4138"/>
            </a:avLst>
          </a:prstGeom>
          <a:solidFill>
            <a:srgbClr val="F2E9DA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58276" y="4691955"/>
            <a:ext cx="3608189" cy="457200"/>
          </a:xfrm>
          <a:prstGeom prst="roundRect">
            <a:avLst>
              <a:gd name="adj" fmla="val 16667"/>
            </a:avLst>
          </a:prstGeom>
          <a:solidFill>
            <a:srgbClr val="1A1410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382101" y="4749105"/>
            <a:ext cx="34687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spc="180" kern="0" dirty="0">
                <a:solidFill>
                  <a:srgbClr val="3D3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 DA GALERA · 247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258276" y="5320605"/>
            <a:ext cx="673017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“alguém vai pra UFERSA 7h amanhã??”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258276" y="5863530"/>
            <a:ext cx="673017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“tem vaga volta 18h IFRN?”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58276" y="6406455"/>
            <a:ext cx="673017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“gente subiu a passagem de novo 😭”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258276" y="6949380"/>
            <a:ext cx="673017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“alguém da UERN centro?”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258276" y="7568505"/>
            <a:ext cx="6534150" cy="9525"/>
          </a:xfrm>
          <a:prstGeom prst="rect">
            <a:avLst/>
          </a:prstGeom>
          <a:solidFill>
            <a:srgbClr val="E6DCC9"/>
          </a:solidFill>
          <a:ln/>
        </p:spPr>
      </p:sp>
      <p:sp>
        <p:nvSpPr>
          <p:cNvPr id="17" name="Text 15"/>
          <p:cNvSpPr/>
          <p:nvPr/>
        </p:nvSpPr>
        <p:spPr>
          <a:xfrm>
            <a:off x="10258276" y="7825680"/>
            <a:ext cx="673017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40 mensagens · 0 filtros · 0 avaliações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538883"/>
            <a:ext cx="164820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396" kern="0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SOLUÇÃO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2053233"/>
            <a:ext cx="11561356" cy="1601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0" spc="-60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Cadastre a rota uma vez. O </a:t>
            </a:r>
            <a:pPr algn="l" indent="0" marL="0">
              <a:lnSpc>
                <a:spcPct val="102000"/>
              </a:lnSpc>
              <a:buNone/>
            </a:pPr>
            <a:r>
              <a:rPr lang="en-US" sz="6000" i="1" spc="-60" kern="0" dirty="0">
                <a:solidFill>
                  <a:srgbClr val="B84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algoritmo </a:t>
            </a:r>
            <a:pPr algn="l" indent="0" marL="0">
              <a:lnSpc>
                <a:spcPct val="102000"/>
              </a:lnSpc>
              <a:buNone/>
            </a:pPr>
            <a:r>
              <a:rPr lang="en-US" sz="6000" spc="-60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acha quem vai com você.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143000" y="4150519"/>
            <a:ext cx="7420453" cy="2080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300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estudante informa bairro, universidade e horário — e recebe caronas compatíveis, </a:t>
            </a:r>
            <a:pPr algn="l" indent="0" marL="0">
              <a:lnSpc>
                <a:spcPct val="134000"/>
              </a:lnSpc>
              <a:buNone/>
            </a:pPr>
            <a:r>
              <a:rPr lang="en-US" sz="30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ranqueadas por um score de 0 a 100 </a:t>
            </a:r>
            <a:pPr algn="l" indent="0" marL="0">
              <a:lnSpc>
                <a:spcPct val="134000"/>
              </a:lnSpc>
              <a:buNone/>
            </a:pPr>
            <a:r>
              <a:rPr lang="en-US" sz="300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" y="6802041"/>
            <a:ext cx="3829050" cy="2060377"/>
          </a:xfrm>
          <a:prstGeom prst="roundRect">
            <a:avLst>
              <a:gd name="adj" fmla="val 8321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5425" y="7135416"/>
            <a:ext cx="225430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dirty="0">
                <a:solidFill>
                  <a:srgbClr val="B84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UFERSA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1495425" y="7843242"/>
            <a:ext cx="321792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Univ. Federal Rural do Semi-Árido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200650" y="6802041"/>
            <a:ext cx="3829050" cy="2060377"/>
          </a:xfrm>
          <a:prstGeom prst="roundRect">
            <a:avLst>
              <a:gd name="adj" fmla="val 8321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53075" y="7135416"/>
            <a:ext cx="1666429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dirty="0">
                <a:solidFill>
                  <a:srgbClr val="B84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UERN</a:t>
            </a:r>
            <a:endParaRPr lang="en-US" sz="4350" dirty="0"/>
          </a:p>
        </p:txBody>
      </p:sp>
      <p:sp>
        <p:nvSpPr>
          <p:cNvPr id="10" name="Text 8"/>
          <p:cNvSpPr/>
          <p:nvPr/>
        </p:nvSpPr>
        <p:spPr>
          <a:xfrm>
            <a:off x="5553075" y="7843242"/>
            <a:ext cx="321792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Univ. do Estado do Rio Grande do Norte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58300" y="6802041"/>
            <a:ext cx="3829050" cy="2060377"/>
          </a:xfrm>
          <a:prstGeom prst="roundRect">
            <a:avLst>
              <a:gd name="adj" fmla="val 8321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10725" y="7135416"/>
            <a:ext cx="1433959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dirty="0">
                <a:solidFill>
                  <a:srgbClr val="B84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IFRN</a:t>
            </a:r>
            <a:endParaRPr lang="en-US" sz="4350" dirty="0"/>
          </a:p>
        </p:txBody>
      </p:sp>
      <p:sp>
        <p:nvSpPr>
          <p:cNvPr id="13" name="Text 11"/>
          <p:cNvSpPr/>
          <p:nvPr/>
        </p:nvSpPr>
        <p:spPr>
          <a:xfrm>
            <a:off x="9610725" y="7843242"/>
            <a:ext cx="321792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Inst. Federal do Rio Grande do Norte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315950" y="6802041"/>
            <a:ext cx="3829050" cy="2060377"/>
          </a:xfrm>
          <a:prstGeom prst="roundRect">
            <a:avLst>
              <a:gd name="adj" fmla="val 8321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668375" y="7135416"/>
            <a:ext cx="125477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dirty="0">
                <a:solidFill>
                  <a:srgbClr val="B84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UNP</a:t>
            </a:r>
            <a:endParaRPr lang="en-US" sz="4350" dirty="0"/>
          </a:p>
        </p:txBody>
      </p:sp>
      <p:sp>
        <p:nvSpPr>
          <p:cNvPr id="16" name="Text 14"/>
          <p:cNvSpPr/>
          <p:nvPr/>
        </p:nvSpPr>
        <p:spPr>
          <a:xfrm>
            <a:off x="13668375" y="7843242"/>
            <a:ext cx="232543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Universidade Potiguar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396" kern="0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 DE ENTRADA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0597909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0" spc="-60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sistema precisa saber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43000" y="2586930"/>
            <a:ext cx="5181600" cy="3335685"/>
          </a:xfrm>
          <a:prstGeom prst="roundRect">
            <a:avLst>
              <a:gd name="adj" fmla="val 5140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95425" y="2920305"/>
            <a:ext cx="46110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Identidade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95425" y="3875336"/>
            <a:ext cx="4611052" cy="454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é você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495425" y="4903440"/>
            <a:ext cx="461105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Nome, contato e </a:t>
            </a:r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motorista ou passageiro.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53200" y="2586930"/>
            <a:ext cx="5181600" cy="3335685"/>
          </a:xfrm>
          <a:prstGeom prst="roundRect">
            <a:avLst>
              <a:gd name="adj" fmla="val 5140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5625" y="2920305"/>
            <a:ext cx="46110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Localização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05625" y="3875336"/>
            <a:ext cx="4611052" cy="454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onde sai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6905625" y="4903440"/>
            <a:ext cx="461105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bairro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chave que indexa todo mundo na tabela hash.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963400" y="2586930"/>
            <a:ext cx="5181600" cy="3335685"/>
          </a:xfrm>
          <a:prstGeom prst="roundRect">
            <a:avLst>
              <a:gd name="adj" fmla="val 5140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15825" y="2920305"/>
            <a:ext cx="46110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Destino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15825" y="4046786"/>
            <a:ext cx="4611052" cy="454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 qual universidade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12315825" y="5246340"/>
            <a:ext cx="46110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UFERSA, UERN, IFRN ou UNP.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43000" y="6151215"/>
            <a:ext cx="5181600" cy="3335685"/>
          </a:xfrm>
          <a:prstGeom prst="roundRect">
            <a:avLst>
              <a:gd name="adj" fmla="val 5140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95425" y="6484590"/>
            <a:ext cx="46110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Veículo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95425" y="7611070"/>
            <a:ext cx="4611052" cy="454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Vagas disponíveis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1495425" y="8810625"/>
            <a:ext cx="46110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motoristas: carro e número de </a:t>
            </a:r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vagas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53200" y="6151215"/>
            <a:ext cx="5181600" cy="3335685"/>
          </a:xfrm>
          <a:prstGeom prst="roundRect">
            <a:avLst>
              <a:gd name="adj" fmla="val 5140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5625" y="6484590"/>
            <a:ext cx="46110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Rota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5625" y="7439620"/>
            <a:ext cx="4611052" cy="454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Horário e tipo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6905625" y="8467725"/>
            <a:ext cx="461105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Origem, destino, </a:t>
            </a:r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horário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tipo: ida ou volta.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963400" y="6151215"/>
            <a:ext cx="5181600" cy="3335685"/>
          </a:xfrm>
          <a:prstGeom prst="roundRect">
            <a:avLst>
              <a:gd name="adj" fmla="val 5140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15825" y="6484590"/>
            <a:ext cx="46110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Busca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15825" y="7439620"/>
            <a:ext cx="4611052" cy="454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Janela de tolerância</a:t>
            </a:r>
            <a:endParaRPr lang="en-US" sz="3150" dirty="0"/>
          </a:p>
        </p:txBody>
      </p:sp>
      <p:sp>
        <p:nvSpPr>
          <p:cNvPr id="27" name="Text 25"/>
          <p:cNvSpPr/>
          <p:nvPr/>
        </p:nvSpPr>
        <p:spPr>
          <a:xfrm>
            <a:off x="12315825" y="8467725"/>
            <a:ext cx="461105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de margem no horário aceita na compatibilidade.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396" kern="0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VISÃO GERAL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9634463" cy="159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0" spc="-60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 em três camadas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43000" y="3364111"/>
            <a:ext cx="4734371" cy="5494139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5425" y="3697486"/>
            <a:ext cx="1527870" cy="457200"/>
          </a:xfrm>
          <a:prstGeom prst="roundRect">
            <a:avLst>
              <a:gd name="adj" fmla="val 16667"/>
            </a:avLst>
          </a:prstGeom>
          <a:solidFill>
            <a:srgbClr val="2D5A4F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19250" y="3754636"/>
            <a:ext cx="1356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spc="180" kern="0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95425" y="5151537"/>
            <a:ext cx="4150407" cy="909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 · CSS · JS puro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495425" y="6156424"/>
            <a:ext cx="4150407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interativo </a:t>
            </a:r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OpenStreetMap, com roteamento real via OSRM.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95425" y="8181975"/>
            <a:ext cx="415040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 do navegador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09556" y="5630168"/>
            <a:ext cx="379512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850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⇄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086921" y="6249293"/>
            <a:ext cx="6249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45201" y="3364111"/>
            <a:ext cx="4734520" cy="5494139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97626" y="3697486"/>
            <a:ext cx="1527870" cy="457200"/>
          </a:xfrm>
          <a:prstGeom prst="roundRect">
            <a:avLst>
              <a:gd name="adj" fmla="val 16667"/>
            </a:avLst>
          </a:prstGeom>
          <a:solidFill>
            <a:srgbClr val="B8451E">
              <a:alpha val="1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321451" y="3754636"/>
            <a:ext cx="1356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spc="180" kern="0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REST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97626" y="5369421"/>
            <a:ext cx="4150560" cy="473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17 · Spring Boot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7197626" y="5938540"/>
            <a:ext cx="415056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 cadastros e buscas, orquestra as estruturas e devolve os matches ranqueados.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97626" y="8181975"/>
            <a:ext cx="41505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 de aplicação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6456" y="5630168"/>
            <a:ext cx="29348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850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1789271" y="6249293"/>
            <a:ext cx="4878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410480" y="3364111"/>
            <a:ext cx="4734520" cy="5494139"/>
          </a:xfrm>
          <a:prstGeom prst="roundRect">
            <a:avLst>
              <a:gd name="adj" fmla="val 3621"/>
            </a:avLst>
          </a:prstGeom>
          <a:solidFill>
            <a:srgbClr val="F2E9DA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762905" y="3697486"/>
            <a:ext cx="3288060" cy="457200"/>
          </a:xfrm>
          <a:prstGeom prst="roundRect">
            <a:avLst>
              <a:gd name="adj" fmla="val 16667"/>
            </a:avLst>
          </a:prstGeom>
          <a:solidFill>
            <a:srgbClr val="E8A33D">
              <a:alpha val="1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2886730" y="3754636"/>
            <a:ext cx="31390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spc="180" kern="0" dirty="0">
                <a:solidFill>
                  <a:srgbClr val="A97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ESTRUTURAS PRÓPRIAS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762905" y="5540871"/>
            <a:ext cx="4150560" cy="473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zero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2762905" y="6109990"/>
            <a:ext cx="41505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Hash, Grafo, QuickSort e Dijkstra — </a:t>
            </a:r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HashMap, sem Collections.sort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762905" y="8181975"/>
            <a:ext cx="41505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coração técnico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02970" y="9124950"/>
            <a:ext cx="1648206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Tudo sobe junto com </a:t>
            </a:r>
            <a:pPr algn="ctr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3D3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</a:t>
            </a:r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backend + frontend em um comando.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396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CORAÇÃO DO SISTEMA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1561356" cy="1601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0" spc="-60" kern="0" dirty="0">
                <a:solidFill>
                  <a:srgbClr val="F4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clique em </a:t>
            </a:r>
            <a:pPr algn="l" indent="0" marL="0">
              <a:lnSpc>
                <a:spcPct val="102000"/>
              </a:lnSpc>
              <a:buNone/>
            </a:pPr>
            <a:r>
              <a:rPr lang="en-US" sz="6000" i="1" spc="-60" kern="0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Buscar </a:t>
            </a:r>
            <a:pPr algn="l" indent="0" marL="0">
              <a:lnSpc>
                <a:spcPct val="102000"/>
              </a:lnSpc>
              <a:buNone/>
            </a:pPr>
            <a:r>
              <a:rPr lang="en-US" sz="6000" spc="-60" kern="0" dirty="0">
                <a:solidFill>
                  <a:srgbClr val="F4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dispara cinco etapas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43000" y="3449836"/>
            <a:ext cx="2734568" cy="6037064"/>
          </a:xfrm>
          <a:prstGeom prst="roundRect">
            <a:avLst>
              <a:gd name="adj" fmla="val 6270"/>
            </a:avLst>
          </a:prstGeom>
          <a:solidFill>
            <a:srgbClr val="2E251D"/>
          </a:solidFill>
          <a:ln w="9525">
            <a:solidFill>
              <a:srgbClr val="47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5425" y="3783211"/>
            <a:ext cx="887760" cy="457200"/>
          </a:xfrm>
          <a:prstGeom prst="roundRect">
            <a:avLst>
              <a:gd name="adj" fmla="val 16667"/>
            </a:avLst>
          </a:prstGeom>
          <a:solidFill>
            <a:srgbClr val="D65F33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19250" y="3840361"/>
            <a:ext cx="7163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spc="180" kern="0" dirty="0">
                <a:solidFill>
                  <a:srgbClr val="E07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95425" y="6074420"/>
            <a:ext cx="2105918" cy="711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4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Acha por bairro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495425" y="8582025"/>
            <a:ext cx="210591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010918" y="3449836"/>
            <a:ext cx="270570" cy="6075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4338638" y="3449836"/>
            <a:ext cx="2734568" cy="6037064"/>
          </a:xfrm>
          <a:prstGeom prst="roundRect">
            <a:avLst>
              <a:gd name="adj" fmla="val 6270"/>
            </a:avLst>
          </a:prstGeom>
          <a:solidFill>
            <a:srgbClr val="2E251D"/>
          </a:solidFill>
          <a:ln w="9525">
            <a:solidFill>
              <a:srgbClr val="473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1063" y="3783211"/>
            <a:ext cx="2007989" cy="457200"/>
          </a:xfrm>
          <a:prstGeom prst="roundRect">
            <a:avLst>
              <a:gd name="adj" fmla="val 16667"/>
            </a:avLst>
          </a:prstGeom>
          <a:solidFill>
            <a:srgbClr val="508C78">
              <a:alpha val="2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814888" y="3840361"/>
            <a:ext cx="183653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spc="180" kern="0" dirty="0">
                <a:solidFill>
                  <a:srgbClr val="7FC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GRAFO · BFS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91063" y="6074420"/>
            <a:ext cx="2105918" cy="711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4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compatível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4691063" y="8582025"/>
            <a:ext cx="210591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O(V+E)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206555" y="3449836"/>
            <a:ext cx="270570" cy="6075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7534275" y="3449836"/>
            <a:ext cx="2734568" cy="6037064"/>
          </a:xfrm>
          <a:prstGeom prst="roundRect">
            <a:avLst>
              <a:gd name="adj" fmla="val 6270"/>
            </a:avLst>
          </a:prstGeom>
          <a:solidFill>
            <a:srgbClr val="2E251D"/>
          </a:solidFill>
          <a:ln w="9525">
            <a:solidFill>
              <a:srgbClr val="473A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86700" y="3783211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4ECE0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010525" y="3840361"/>
            <a:ext cx="876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spc="180" kern="0" dirty="0">
                <a:solidFill>
                  <a:srgbClr val="C9B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886700" y="5737622"/>
            <a:ext cx="2105918" cy="1385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4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Avaliação · proximidade · horário · vagas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7886700" y="8582025"/>
            <a:ext cx="210591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0–100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0402193" y="3449836"/>
            <a:ext cx="270570" cy="6075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0729913" y="3449836"/>
            <a:ext cx="2734568" cy="6037064"/>
          </a:xfrm>
          <a:prstGeom prst="roundRect">
            <a:avLst>
              <a:gd name="adj" fmla="val 6270"/>
            </a:avLst>
          </a:prstGeom>
          <a:solidFill>
            <a:srgbClr val="2E251D"/>
          </a:solidFill>
          <a:ln w="9525">
            <a:solidFill>
              <a:srgbClr val="473A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82338" y="3783211"/>
            <a:ext cx="1687860" cy="457200"/>
          </a:xfrm>
          <a:prstGeom prst="roundRect">
            <a:avLst>
              <a:gd name="adj" fmla="val 16667"/>
            </a:avLst>
          </a:prstGeom>
          <a:solidFill>
            <a:srgbClr val="E8A33D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1206162" y="3840361"/>
            <a:ext cx="15164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spc="18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QUICKSORT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082338" y="5788670"/>
            <a:ext cx="2105918" cy="711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4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Ranqueia os matches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1082338" y="8010525"/>
            <a:ext cx="2105918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3597830" y="3449836"/>
            <a:ext cx="270570" cy="6075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13925550" y="3449836"/>
            <a:ext cx="3219450" cy="6037064"/>
          </a:xfrm>
          <a:prstGeom prst="roundRect">
            <a:avLst>
              <a:gd name="adj" fmla="val 5325"/>
            </a:avLst>
          </a:prstGeom>
          <a:solidFill>
            <a:srgbClr val="2E251D"/>
          </a:solidFill>
          <a:ln w="9525">
            <a:solidFill>
              <a:srgbClr val="473A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277975" y="3783211"/>
            <a:ext cx="1527870" cy="457200"/>
          </a:xfrm>
          <a:prstGeom prst="roundRect">
            <a:avLst>
              <a:gd name="adj" fmla="val 16667"/>
            </a:avLst>
          </a:prstGeom>
          <a:solidFill>
            <a:srgbClr val="508C78">
              <a:alpha val="2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4401800" y="3840361"/>
            <a:ext cx="1356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spc="180" kern="0" dirty="0">
                <a:solidFill>
                  <a:srgbClr val="7FC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DIJKSTRA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277975" y="5957143"/>
            <a:ext cx="2590800" cy="374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4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Trajeto no mapa</a:t>
            </a:r>
            <a:endParaRPr lang="en-US" sz="2550" dirty="0"/>
          </a:p>
        </p:txBody>
      </p:sp>
      <p:sp>
        <p:nvSpPr>
          <p:cNvPr id="32" name="Text 30"/>
          <p:cNvSpPr/>
          <p:nvPr/>
        </p:nvSpPr>
        <p:spPr>
          <a:xfrm>
            <a:off x="14277975" y="8010525"/>
            <a:ext cx="25908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O((V+E)·log V)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14400"/>
            <a:ext cx="2167979" cy="457200"/>
          </a:xfrm>
          <a:prstGeom prst="roundRect">
            <a:avLst>
              <a:gd name="adj" fmla="val 16667"/>
            </a:avLst>
          </a:prstGeom>
          <a:solidFill>
            <a:srgbClr val="B8451E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66825" y="971550"/>
            <a:ext cx="19965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spc="180" kern="0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 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543050"/>
            <a:ext cx="10597909" cy="1611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0" spc="-60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Tabela Hash </a:t>
            </a:r>
            <a:pPr algn="l" indent="0" marL="0">
              <a:lnSpc>
                <a:spcPct val="102000"/>
              </a:lnSpc>
              <a:buNone/>
            </a:pPr>
            <a:r>
              <a:rPr lang="en-US" sz="6000" i="1" spc="-60" kern="0" dirty="0">
                <a:solidFill>
                  <a:srgbClr val="B84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implementada do zero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466850" y="4711005"/>
            <a:ext cx="756399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Indexa usuários e rotas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 bairro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busca não varre a lista toda.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466850" y="5758755"/>
            <a:ext cx="756399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Colisões resolvidas por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encadeamento separado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cada balde guarda uma lista.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66850" y="6806505"/>
            <a:ext cx="756399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enche,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redobra de tamanho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redistribui as chaves.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466850" y="7854255"/>
            <a:ext cx="75639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linguagem — tudo na mão.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486900" y="4125218"/>
            <a:ext cx="7658100" cy="2838450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4043" y="4591943"/>
            <a:ext cx="28636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spc="288" kern="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 POR BAIRRO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903202" y="5011043"/>
            <a:ext cx="2825496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0" b="1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10903579" y="6154043"/>
            <a:ext cx="48247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médio · independe do nº de estudantes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86900" y="7230368"/>
            <a:ext cx="7658100" cy="16287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39325" y="7563743"/>
            <a:ext cx="438034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D3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balde[3] · "Alto de São Manoel"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09168" y="7563743"/>
            <a:ext cx="185960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Carla → Léo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839325" y="8039993"/>
            <a:ext cx="6953250" cy="9525"/>
          </a:xfrm>
          <a:prstGeom prst="rect">
            <a:avLst/>
          </a:prstGeom>
          <a:solidFill>
            <a:srgbClr val="E6DCC9"/>
          </a:solidFill>
          <a:ln/>
        </p:spPr>
      </p:sp>
      <p:sp>
        <p:nvSpPr>
          <p:cNvPr id="17" name="Text 15"/>
          <p:cNvSpPr/>
          <p:nvPr/>
        </p:nvSpPr>
        <p:spPr>
          <a:xfrm>
            <a:off x="9839325" y="8182868"/>
            <a:ext cx="26847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D3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balde[7] · "Centro"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106626" y="8182868"/>
            <a:ext cx="7621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Ana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14400"/>
            <a:ext cx="3768179" cy="457200"/>
          </a:xfrm>
          <a:prstGeom prst="roundRect">
            <a:avLst>
              <a:gd name="adj" fmla="val 16667"/>
            </a:avLst>
          </a:prstGeom>
          <a:solidFill>
            <a:srgbClr val="B8451E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66825" y="971550"/>
            <a:ext cx="36335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spc="180" kern="0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 01 · EXEMPLO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543050"/>
            <a:ext cx="12283825" cy="630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500" spc="-45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Hash: inserir e </a:t>
            </a:r>
            <a:pPr algn="l" indent="0" marL="0">
              <a:lnSpc>
                <a:spcPct val="102000"/>
              </a:lnSpc>
              <a:buNone/>
            </a:pPr>
            <a:r>
              <a:rPr lang="en-US" sz="4500" i="1" spc="-45" kern="0" dirty="0">
                <a:solidFill>
                  <a:srgbClr val="B84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buscar </a:t>
            </a:r>
            <a:pPr algn="l" indent="0" marL="0">
              <a:lnSpc>
                <a:spcPct val="102000"/>
              </a:lnSpc>
              <a:buNone/>
            </a:pPr>
            <a:r>
              <a:rPr lang="en-US" sz="4500" spc="-45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bairro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143000" y="2421136"/>
            <a:ext cx="438150" cy="438150"/>
          </a:xfrm>
          <a:prstGeom prst="ellipse">
            <a:avLst/>
          </a:prstGeom>
          <a:solidFill>
            <a:srgbClr val="B8451E"/>
          </a:solidFill>
          <a:ln/>
        </p:spPr>
      </p:sp>
      <p:sp>
        <p:nvSpPr>
          <p:cNvPr id="6" name="Text 4"/>
          <p:cNvSpPr/>
          <p:nvPr/>
        </p:nvSpPr>
        <p:spPr>
          <a:xfrm>
            <a:off x="1104900" y="2421136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3550" y="2471738"/>
            <a:ext cx="1987302" cy="374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 o hash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143000" y="3068836"/>
            <a:ext cx="7097911" cy="1228725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00175" y="3287911"/>
            <a:ext cx="67810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144" kern="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ÍNDICE DO BALDE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00175" y="3707011"/>
            <a:ext cx="67810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soma(códigos do bairro) % 8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43000" y="4545211"/>
            <a:ext cx="96797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795022" y="4545211"/>
            <a:ext cx="52208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43000" y="5069086"/>
            <a:ext cx="126518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Abolição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795022" y="5069086"/>
            <a:ext cx="52208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5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43000" y="5592961"/>
            <a:ext cx="126518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Barrocas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308824" y="5592961"/>
            <a:ext cx="200828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 · colisão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43000" y="6116836"/>
            <a:ext cx="14138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Aeroporto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795022" y="6116836"/>
            <a:ext cx="52208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7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43000" y="6640711"/>
            <a:ext cx="96797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Pintos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795022" y="6640711"/>
            <a:ext cx="52208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4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8812411" y="2421136"/>
            <a:ext cx="438150" cy="438150"/>
          </a:xfrm>
          <a:prstGeom prst="ellipse">
            <a:avLst/>
          </a:prstGeom>
          <a:solidFill>
            <a:srgbClr val="B8451E"/>
          </a:solidFill>
          <a:ln/>
        </p:spPr>
      </p:sp>
      <p:sp>
        <p:nvSpPr>
          <p:cNvPr id="22" name="Text 20"/>
          <p:cNvSpPr/>
          <p:nvPr/>
        </p:nvSpPr>
        <p:spPr>
          <a:xfrm>
            <a:off x="8774311" y="2421136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02961" y="2471738"/>
            <a:ext cx="2727389" cy="374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Guarda nos baldes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8812411" y="3021211"/>
            <a:ext cx="457200" cy="457200"/>
          </a:xfrm>
          <a:prstGeom prst="roundRect">
            <a:avLst>
              <a:gd name="adj" fmla="val 22917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79086" y="3030736"/>
            <a:ext cx="3238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402961" y="3078361"/>
            <a:ext cx="7621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vazio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812411" y="3602236"/>
            <a:ext cx="457200" cy="457200"/>
          </a:xfrm>
          <a:prstGeom prst="roundRect">
            <a:avLst>
              <a:gd name="adj" fmla="val 22917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79086" y="3611761"/>
            <a:ext cx="3238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402961" y="3659386"/>
            <a:ext cx="7621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vazio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812411" y="4183261"/>
            <a:ext cx="457200" cy="457200"/>
          </a:xfrm>
          <a:prstGeom prst="roundRect">
            <a:avLst>
              <a:gd name="adj" fmla="val 22917"/>
            </a:avLst>
          </a:prstGeom>
          <a:solidFill>
            <a:srgbClr val="B8451E">
              <a:alpha val="10000"/>
            </a:srgbClr>
          </a:solidFill>
          <a:ln w="9525">
            <a:solidFill>
              <a:srgbClr val="B845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79086" y="4192786"/>
            <a:ext cx="3238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9402961" y="4240411"/>
            <a:ext cx="213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673530" y="4154686"/>
            <a:ext cx="1122313" cy="514350"/>
          </a:xfrm>
          <a:prstGeom prst="roundRect">
            <a:avLst>
              <a:gd name="adj" fmla="val 50000"/>
            </a:avLst>
          </a:prstGeom>
          <a:solidFill>
            <a:srgbClr val="F2E9DA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54505" y="4240411"/>
            <a:ext cx="83656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929193" y="4240411"/>
            <a:ext cx="213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1199763" y="4154686"/>
            <a:ext cx="1334691" cy="514350"/>
          </a:xfrm>
          <a:prstGeom prst="roundRect">
            <a:avLst>
              <a:gd name="adj" fmla="val 50000"/>
            </a:avLst>
          </a:prstGeom>
          <a:solidFill>
            <a:srgbClr val="F2E9DA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380738" y="4240411"/>
            <a:ext cx="104894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Barrocas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812411" y="4764286"/>
            <a:ext cx="457200" cy="457200"/>
          </a:xfrm>
          <a:prstGeom prst="roundRect">
            <a:avLst>
              <a:gd name="adj" fmla="val 22917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79086" y="4773811"/>
            <a:ext cx="3238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9402961" y="4821436"/>
            <a:ext cx="7621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vazio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812411" y="5345311"/>
            <a:ext cx="457200" cy="457200"/>
          </a:xfrm>
          <a:prstGeom prst="roundRect">
            <a:avLst>
              <a:gd name="adj" fmla="val 22917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79086" y="5354836"/>
            <a:ext cx="3238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9402961" y="5402461"/>
            <a:ext cx="213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9673530" y="5316736"/>
            <a:ext cx="1045666" cy="514350"/>
          </a:xfrm>
          <a:prstGeom prst="roundRect">
            <a:avLst>
              <a:gd name="adj" fmla="val 50000"/>
            </a:avLst>
          </a:prstGeom>
          <a:solidFill>
            <a:srgbClr val="F2E9DA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54505" y="5402461"/>
            <a:ext cx="75991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Pintos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8812411" y="5926336"/>
            <a:ext cx="457200" cy="457200"/>
          </a:xfrm>
          <a:prstGeom prst="roundRect">
            <a:avLst>
              <a:gd name="adj" fmla="val 22917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79086" y="5935861"/>
            <a:ext cx="3238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9402961" y="5983486"/>
            <a:ext cx="213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9673530" y="5897761"/>
            <a:ext cx="1328738" cy="514350"/>
          </a:xfrm>
          <a:prstGeom prst="roundRect">
            <a:avLst>
              <a:gd name="adj" fmla="val 50000"/>
            </a:avLst>
          </a:prstGeom>
          <a:solidFill>
            <a:srgbClr val="F2E9DA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854505" y="5983486"/>
            <a:ext cx="104298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Abolição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812411" y="6507361"/>
            <a:ext cx="457200" cy="457200"/>
          </a:xfrm>
          <a:prstGeom prst="roundRect">
            <a:avLst>
              <a:gd name="adj" fmla="val 22917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79086" y="6516886"/>
            <a:ext cx="3238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9402961" y="6564511"/>
            <a:ext cx="7621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vazio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8812411" y="7088386"/>
            <a:ext cx="457200" cy="457200"/>
          </a:xfrm>
          <a:prstGeom prst="roundRect">
            <a:avLst>
              <a:gd name="adj" fmla="val 22917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879086" y="7097911"/>
            <a:ext cx="3238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9402961" y="7145536"/>
            <a:ext cx="213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9673530" y="7059811"/>
            <a:ext cx="1480691" cy="514350"/>
          </a:xfrm>
          <a:prstGeom prst="roundRect">
            <a:avLst>
              <a:gd name="adj" fmla="val 50000"/>
            </a:avLst>
          </a:prstGeom>
          <a:solidFill>
            <a:srgbClr val="F2E9DA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854505" y="7145536"/>
            <a:ext cx="119494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Aeroporto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143000" y="8553450"/>
            <a:ext cx="16002000" cy="933450"/>
          </a:xfrm>
          <a:prstGeom prst="roundRect">
            <a:avLst>
              <a:gd name="adj" fmla="val 18367"/>
            </a:avLst>
          </a:prstGeom>
          <a:solidFill>
            <a:srgbClr val="F2E9DA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38275" y="8801100"/>
            <a:ext cx="438150" cy="438150"/>
          </a:xfrm>
          <a:prstGeom prst="ellipse">
            <a:avLst/>
          </a:prstGeom>
          <a:solidFill>
            <a:srgbClr val="B8451E"/>
          </a:solidFill>
          <a:ln/>
        </p:spPr>
      </p:sp>
      <p:sp>
        <p:nvSpPr>
          <p:cNvPr id="61" name="Text 59"/>
          <p:cNvSpPr/>
          <p:nvPr/>
        </p:nvSpPr>
        <p:spPr>
          <a:xfrm>
            <a:off x="1400175" y="880110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2085975" y="8827294"/>
            <a:ext cx="93303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“Barrocas”: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→ balde 2 → percorre a cadeia (2 nós) → encontrado.</a:t>
            </a:r>
            <a:endParaRPr lang="en-US" sz="2025" dirty="0"/>
          </a:p>
        </p:txBody>
      </p:sp>
      <p:sp>
        <p:nvSpPr>
          <p:cNvPr id="63" name="Shape 61"/>
          <p:cNvSpPr/>
          <p:nvPr/>
        </p:nvSpPr>
        <p:spPr>
          <a:xfrm>
            <a:off x="15001875" y="8791575"/>
            <a:ext cx="1847850" cy="457200"/>
          </a:xfrm>
          <a:prstGeom prst="roundRect">
            <a:avLst>
              <a:gd name="adj" fmla="val 16667"/>
            </a:avLst>
          </a:prstGeom>
          <a:solidFill>
            <a:srgbClr val="B8451E">
              <a:alpha val="14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5125700" y="8848725"/>
            <a:ext cx="16764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spc="180" kern="0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 MÉDIO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14400"/>
            <a:ext cx="2167979" cy="457200"/>
          </a:xfrm>
          <a:prstGeom prst="roundRect">
            <a:avLst>
              <a:gd name="adj" fmla="val 16667"/>
            </a:avLst>
          </a:prstGeom>
          <a:solidFill>
            <a:srgbClr val="2D5A4F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66825" y="971550"/>
            <a:ext cx="19965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spc="180" kern="0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543050"/>
            <a:ext cx="11561356" cy="1611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0" spc="-60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Grafo + BFS para achar o </a:t>
            </a:r>
            <a:pPr algn="l" indent="0" marL="0">
              <a:lnSpc>
                <a:spcPct val="102000"/>
              </a:lnSpc>
              <a:buNone/>
            </a:pPr>
            <a:r>
              <a:rPr lang="en-US" sz="6000" i="1" spc="-60" kern="0" dirty="0">
                <a:solidFill>
                  <a:srgbClr val="B84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compatível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466850" y="4720530"/>
            <a:ext cx="756399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Bairros e horários viram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nós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afinidade entre eles vira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aresta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466850" y="5768280"/>
            <a:ext cx="756399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Compatibilidade não é binária — bairros vizinhos e horários próximos se ligam.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66850" y="6816030"/>
            <a:ext cx="756399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do solicitante e visita o componente conectado de quem dá match.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466850" y="7863780"/>
            <a:ext cx="756399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Representação por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adjacência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leve e direta.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486900" y="4649093"/>
            <a:ext cx="7658100" cy="368617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4043" y="5115818"/>
            <a:ext cx="28636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spc="288" kern="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 EM LARGURA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96828" y="5534918"/>
            <a:ext cx="4238244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0" b="1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O(V+E)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11372197" y="6677918"/>
            <a:ext cx="388735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 cada nó e cada aresta uma vez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953625" y="7306568"/>
            <a:ext cx="6724650" cy="9525"/>
          </a:xfrm>
          <a:prstGeom prst="rect">
            <a:avLst/>
          </a:prstGeom>
          <a:solidFill>
            <a:srgbClr val="E6DCC9"/>
          </a:solidFill>
          <a:ln/>
        </p:spPr>
      </p:sp>
      <p:sp>
        <p:nvSpPr>
          <p:cNvPr id="14" name="Text 12"/>
          <p:cNvSpPr/>
          <p:nvPr/>
        </p:nvSpPr>
        <p:spPr>
          <a:xfrm>
            <a:off x="10560511" y="7525643"/>
            <a:ext cx="55107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D3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bairros/horários · E = afinidades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14400"/>
            <a:ext cx="3768179" cy="457200"/>
          </a:xfrm>
          <a:prstGeom prst="roundRect">
            <a:avLst>
              <a:gd name="adj" fmla="val 16667"/>
            </a:avLst>
          </a:prstGeom>
          <a:solidFill>
            <a:srgbClr val="2D5A4F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66825" y="971550"/>
            <a:ext cx="36335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spc="180" kern="0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 02 · EXEMPLO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543050"/>
            <a:ext cx="14451695" cy="82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0" spc="-60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BFS a partir de </a:t>
            </a:r>
            <a:pPr algn="l" indent="0" marL="0">
              <a:lnSpc>
                <a:spcPct val="102000"/>
              </a:lnSpc>
              <a:buNone/>
            </a:pPr>
            <a:r>
              <a:rPr lang="en-US" sz="6000" i="1" spc="-60" kern="0" dirty="0">
                <a:solidFill>
                  <a:srgbClr val="B84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Centro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 rot="8651999">
            <a:off x="2466708" y="3767367"/>
            <a:ext cx="2114550" cy="28575"/>
          </a:xfrm>
          <a:prstGeom prst="rect">
            <a:avLst/>
          </a:prstGeom>
          <a:solidFill>
            <a:srgbClr val="D9CDB8"/>
          </a:solidFill>
          <a:ln/>
        </p:spPr>
      </p:sp>
      <p:sp>
        <p:nvSpPr>
          <p:cNvPr id="6" name="Shape 4"/>
          <p:cNvSpPr/>
          <p:nvPr/>
        </p:nvSpPr>
        <p:spPr>
          <a:xfrm rot="2148001">
            <a:off x="4181742" y="3767367"/>
            <a:ext cx="2114550" cy="28575"/>
          </a:xfrm>
          <a:prstGeom prst="rect">
            <a:avLst/>
          </a:prstGeom>
          <a:solidFill>
            <a:srgbClr val="D9CDB8"/>
          </a:solidFill>
          <a:ln/>
        </p:spPr>
      </p:sp>
      <p:sp>
        <p:nvSpPr>
          <p:cNvPr id="7" name="Shape 5"/>
          <p:cNvSpPr/>
          <p:nvPr/>
        </p:nvSpPr>
        <p:spPr>
          <a:xfrm>
            <a:off x="2667000" y="4387155"/>
            <a:ext cx="3429000" cy="28575"/>
          </a:xfrm>
          <a:prstGeom prst="rect">
            <a:avLst/>
          </a:prstGeom>
          <a:solidFill>
            <a:srgbClr val="D9CDB8"/>
          </a:solidFill>
          <a:ln/>
        </p:spPr>
      </p:sp>
      <p:sp>
        <p:nvSpPr>
          <p:cNvPr id="8" name="Shape 6"/>
          <p:cNvSpPr/>
          <p:nvPr/>
        </p:nvSpPr>
        <p:spPr>
          <a:xfrm rot="6035999">
            <a:off x="1747913" y="5150196"/>
            <a:ext cx="1552575" cy="28575"/>
          </a:xfrm>
          <a:prstGeom prst="rect">
            <a:avLst/>
          </a:prstGeom>
          <a:solidFill>
            <a:srgbClr val="D9CDB8"/>
          </a:solidFill>
          <a:ln/>
        </p:spPr>
      </p:sp>
      <p:sp>
        <p:nvSpPr>
          <p:cNvPr id="9" name="Shape 7"/>
          <p:cNvSpPr/>
          <p:nvPr/>
        </p:nvSpPr>
        <p:spPr>
          <a:xfrm rot="7164000">
            <a:off x="4789521" y="5150600"/>
            <a:ext cx="1752600" cy="28575"/>
          </a:xfrm>
          <a:prstGeom prst="rect">
            <a:avLst/>
          </a:prstGeom>
          <a:solidFill>
            <a:srgbClr val="D9CDB8"/>
          </a:solidFill>
          <a:ln/>
        </p:spPr>
      </p:sp>
      <p:sp>
        <p:nvSpPr>
          <p:cNvPr id="10" name="Shape 8"/>
          <p:cNvSpPr/>
          <p:nvPr/>
        </p:nvSpPr>
        <p:spPr>
          <a:xfrm>
            <a:off x="5238750" y="5911155"/>
            <a:ext cx="1809750" cy="28575"/>
          </a:xfrm>
          <a:prstGeom prst="rect">
            <a:avLst/>
          </a:prstGeom>
          <a:solidFill>
            <a:srgbClr val="D9CDB8"/>
          </a:solidFill>
          <a:ln/>
        </p:spPr>
      </p:sp>
      <p:sp>
        <p:nvSpPr>
          <p:cNvPr id="11" name="Shape 9"/>
          <p:cNvSpPr/>
          <p:nvPr/>
        </p:nvSpPr>
        <p:spPr>
          <a:xfrm>
            <a:off x="3782244" y="2844105"/>
            <a:ext cx="1198513" cy="609600"/>
          </a:xfrm>
          <a:prstGeom prst="roundRect">
            <a:avLst>
              <a:gd name="adj" fmla="val 50000"/>
            </a:avLst>
          </a:prstGeom>
          <a:solidFill>
            <a:srgbClr val="B8451E"/>
          </a:solidFill>
          <a:ln w="9525">
            <a:solidFill>
              <a:srgbClr val="B8451E"/>
            </a:solidFill>
            <a:prstDash val="solid"/>
          </a:ln>
          <a:effectLst>
            <a:outerShdw sx="100000" sy="100000" kx="0" ky="0" algn="bl" rotWithShape="0" blurRad="76200" dist="19050" dir="5400000">
              <a:srgbClr val="1A141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001319" y="2977455"/>
            <a:ext cx="83656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964531" y="4082355"/>
            <a:ext cx="1404938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  <a:effectLst>
            <a:outerShdw sx="100000" sy="100000" kx="0" ky="0" algn="bl" rotWithShape="0" blurRad="76200" dist="19050" dir="5400000">
              <a:srgbClr val="1A141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83606" y="4215705"/>
            <a:ext cx="104298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Abolição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90555" y="4082355"/>
            <a:ext cx="1410891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  <a:effectLst>
            <a:outerShdw sx="100000" sy="100000" kx="0" ky="0" algn="bl" rotWithShape="0" blurRad="76200" dist="19050" dir="5400000">
              <a:srgbClr val="1A141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09630" y="4215705"/>
            <a:ext cx="104894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Barrocas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820317" y="5606355"/>
            <a:ext cx="1121866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  <a:effectLst>
            <a:outerShdw sx="100000" sy="100000" kx="0" ky="0" algn="bl" rotWithShape="0" blurRad="76200" dist="19050" dir="5400000">
              <a:srgbClr val="1A141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39392" y="5739705"/>
            <a:ext cx="75991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Pintos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460304" y="5606355"/>
            <a:ext cx="1556891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  <a:effectLst>
            <a:outerShdw sx="100000" sy="100000" kx="0" ky="0" algn="bl" rotWithShape="0" blurRad="76200" dist="19050" dir="5400000">
              <a:srgbClr val="1A141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79379" y="5739705"/>
            <a:ext cx="119494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Aeroporto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88732" y="5606355"/>
            <a:ext cx="1519535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  <a:effectLst>
            <a:outerShdw sx="100000" sy="100000" kx="0" ky="0" algn="bl" rotWithShape="0" blurRad="76200" dist="19050" dir="5400000">
              <a:srgbClr val="1A141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07807" y="5739705"/>
            <a:ext cx="11575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 Vista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6882705"/>
            <a:ext cx="756792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Nó em terracota = origem · aresta = afinidade de bairro/horário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23896" y="2577405"/>
            <a:ext cx="232767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144" kern="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VISITA (FIFO)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46818" y="2577405"/>
            <a:ext cx="25324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144" kern="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ENFILEIRA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074527" y="2577405"/>
            <a:ext cx="31622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144" kern="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 DEPOIS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023896" y="3034605"/>
            <a:ext cx="8120955" cy="9525"/>
          </a:xfrm>
          <a:prstGeom prst="rect">
            <a:avLst/>
          </a:prstGeom>
          <a:solidFill>
            <a:srgbClr val="E6DCC9"/>
          </a:solidFill>
          <a:ln/>
        </p:spPr>
      </p:sp>
      <p:sp>
        <p:nvSpPr>
          <p:cNvPr id="28" name="Text 26"/>
          <p:cNvSpPr/>
          <p:nvPr/>
        </p:nvSpPr>
        <p:spPr>
          <a:xfrm>
            <a:off x="9023896" y="3177480"/>
            <a:ext cx="232767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B845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1446818" y="3184624"/>
            <a:ext cx="25324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D5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Abolição, Barrocas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074527" y="3184624"/>
            <a:ext cx="31622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D3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[Abolição, Barrocas]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023896" y="3668018"/>
            <a:ext cx="8120955" cy="9525"/>
          </a:xfrm>
          <a:prstGeom prst="rect">
            <a:avLst/>
          </a:prstGeom>
          <a:solidFill>
            <a:srgbClr val="E6DCC9"/>
          </a:solidFill>
          <a:ln/>
        </p:spPr>
      </p:sp>
      <p:sp>
        <p:nvSpPr>
          <p:cNvPr id="32" name="Text 30"/>
          <p:cNvSpPr/>
          <p:nvPr/>
        </p:nvSpPr>
        <p:spPr>
          <a:xfrm>
            <a:off x="9023896" y="3810893"/>
            <a:ext cx="232767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Abolição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11446818" y="3818037"/>
            <a:ext cx="25324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D5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Pintos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4074527" y="3818037"/>
            <a:ext cx="31622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D3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[Barrocas, Pintos]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023896" y="4301430"/>
            <a:ext cx="8120955" cy="9525"/>
          </a:xfrm>
          <a:prstGeom prst="rect">
            <a:avLst/>
          </a:prstGeom>
          <a:solidFill>
            <a:srgbClr val="E6DCC9"/>
          </a:solidFill>
          <a:ln/>
        </p:spPr>
      </p:sp>
      <p:sp>
        <p:nvSpPr>
          <p:cNvPr id="36" name="Text 34"/>
          <p:cNvSpPr/>
          <p:nvPr/>
        </p:nvSpPr>
        <p:spPr>
          <a:xfrm>
            <a:off x="9023896" y="4444305"/>
            <a:ext cx="232767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Barrocas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11446818" y="4451449"/>
            <a:ext cx="25324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D5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Aeroporto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4074527" y="4451449"/>
            <a:ext cx="31622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D3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[Pintos, Aeroporto]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023896" y="4934843"/>
            <a:ext cx="8120955" cy="9525"/>
          </a:xfrm>
          <a:prstGeom prst="rect">
            <a:avLst/>
          </a:prstGeom>
          <a:solidFill>
            <a:srgbClr val="E6DCC9"/>
          </a:solidFill>
          <a:ln/>
        </p:spPr>
      </p:sp>
      <p:sp>
        <p:nvSpPr>
          <p:cNvPr id="40" name="Text 38"/>
          <p:cNvSpPr/>
          <p:nvPr/>
        </p:nvSpPr>
        <p:spPr>
          <a:xfrm>
            <a:off x="9023896" y="5077718"/>
            <a:ext cx="232767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Pintos</a:t>
            </a:r>
            <a:endParaRPr lang="en-US" sz="1875" dirty="0"/>
          </a:p>
        </p:txBody>
      </p:sp>
      <p:sp>
        <p:nvSpPr>
          <p:cNvPr id="41" name="Text 39"/>
          <p:cNvSpPr/>
          <p:nvPr/>
        </p:nvSpPr>
        <p:spPr>
          <a:xfrm>
            <a:off x="11446818" y="5084862"/>
            <a:ext cx="25324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4074527" y="5084862"/>
            <a:ext cx="31622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D3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[Aeroporto]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023896" y="5568255"/>
            <a:ext cx="8120955" cy="9525"/>
          </a:xfrm>
          <a:prstGeom prst="rect">
            <a:avLst/>
          </a:prstGeom>
          <a:solidFill>
            <a:srgbClr val="E6DCC9"/>
          </a:solidFill>
          <a:ln/>
        </p:spPr>
      </p:sp>
      <p:sp>
        <p:nvSpPr>
          <p:cNvPr id="44" name="Text 42"/>
          <p:cNvSpPr/>
          <p:nvPr/>
        </p:nvSpPr>
        <p:spPr>
          <a:xfrm>
            <a:off x="9023896" y="5711130"/>
            <a:ext cx="232767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Aeroporto</a:t>
            </a:r>
            <a:endParaRPr lang="en-US" sz="1875" dirty="0"/>
          </a:p>
        </p:txBody>
      </p:sp>
      <p:sp>
        <p:nvSpPr>
          <p:cNvPr id="45" name="Text 43"/>
          <p:cNvSpPr/>
          <p:nvPr/>
        </p:nvSpPr>
        <p:spPr>
          <a:xfrm>
            <a:off x="11446818" y="5718274"/>
            <a:ext cx="25324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D5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 Vista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4074527" y="5718274"/>
            <a:ext cx="31622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D3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[Bela Vista]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023896" y="6201668"/>
            <a:ext cx="8120955" cy="9525"/>
          </a:xfrm>
          <a:prstGeom prst="rect">
            <a:avLst/>
          </a:prstGeom>
          <a:solidFill>
            <a:srgbClr val="E6DCC9"/>
          </a:solidFill>
          <a:ln/>
        </p:spPr>
      </p:sp>
      <p:sp>
        <p:nvSpPr>
          <p:cNvPr id="48" name="Text 46"/>
          <p:cNvSpPr/>
          <p:nvPr/>
        </p:nvSpPr>
        <p:spPr>
          <a:xfrm>
            <a:off x="9023896" y="6344543"/>
            <a:ext cx="232767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 Vista</a:t>
            </a:r>
            <a:endParaRPr lang="en-US" sz="1875" dirty="0"/>
          </a:p>
        </p:txBody>
      </p:sp>
      <p:sp>
        <p:nvSpPr>
          <p:cNvPr id="49" name="Text 47"/>
          <p:cNvSpPr/>
          <p:nvPr/>
        </p:nvSpPr>
        <p:spPr>
          <a:xfrm>
            <a:off x="11446818" y="6351687"/>
            <a:ext cx="25324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4074527" y="6351687"/>
            <a:ext cx="31622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143000" y="9129713"/>
            <a:ext cx="1648206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compatível encontrado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visitando cada nó e cada aresta uma vez — </a:t>
            </a:r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O(V+E)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14400"/>
            <a:ext cx="2167979" cy="457200"/>
          </a:xfrm>
          <a:prstGeom prst="roundRect">
            <a:avLst>
              <a:gd name="adj" fmla="val 16667"/>
            </a:avLst>
          </a:prstGeom>
          <a:solidFill>
            <a:srgbClr val="E8A33D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66825" y="971550"/>
            <a:ext cx="19965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spc="180" kern="0" dirty="0">
                <a:solidFill>
                  <a:srgbClr val="A97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 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543050"/>
            <a:ext cx="11561356" cy="82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0" spc="-60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QuickSort para ranquear por </a:t>
            </a:r>
            <a:pPr algn="l" indent="0" marL="0">
              <a:lnSpc>
                <a:spcPct val="102000"/>
              </a:lnSpc>
              <a:buNone/>
            </a:pPr>
            <a:r>
              <a:rPr lang="en-US" sz="6000" i="1" spc="-60" kern="0" dirty="0">
                <a:solidFill>
                  <a:srgbClr val="B84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466850" y="4317653"/>
            <a:ext cx="756399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 os matches pelo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de 0 a 100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do melhor para o pior.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466850" y="5365403"/>
            <a:ext cx="756399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Divisão e conquista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particiona em torno de um pivô e repete.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66850" y="6413153"/>
            <a:ext cx="756399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Pivô =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 do meio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evita o pior caso em dados reais.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466850" y="7460903"/>
            <a:ext cx="75639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Próprio, sem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Collections.sort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486900" y="4370040"/>
            <a:ext cx="7658100" cy="3457575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08991" y="4836765"/>
            <a:ext cx="181391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spc="288" kern="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MÉDIO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25912" y="5255865"/>
            <a:ext cx="5180076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A97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6600" dirty="0"/>
          </a:p>
        </p:txBody>
      </p:sp>
      <p:sp>
        <p:nvSpPr>
          <p:cNvPr id="12" name="Shape 10"/>
          <p:cNvSpPr/>
          <p:nvPr/>
        </p:nvSpPr>
        <p:spPr>
          <a:xfrm>
            <a:off x="9953625" y="6379815"/>
            <a:ext cx="6724650" cy="9525"/>
          </a:xfrm>
          <a:prstGeom prst="rect">
            <a:avLst/>
          </a:prstGeom>
          <a:solidFill>
            <a:srgbClr val="E6DCC9"/>
          </a:solidFill>
          <a:ln/>
        </p:spPr>
      </p:sp>
      <p:sp>
        <p:nvSpPr>
          <p:cNvPr id="13" name="Text 11"/>
          <p:cNvSpPr/>
          <p:nvPr/>
        </p:nvSpPr>
        <p:spPr>
          <a:xfrm>
            <a:off x="9915525" y="6598890"/>
            <a:ext cx="131087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pior caso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954375" y="6598890"/>
            <a:ext cx="762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69084" y="7017990"/>
            <a:ext cx="42935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contornado pela escolha do pivô do meio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14400"/>
            <a:ext cx="3768179" cy="457200"/>
          </a:xfrm>
          <a:prstGeom prst="roundRect">
            <a:avLst>
              <a:gd name="adj" fmla="val 16667"/>
            </a:avLst>
          </a:prstGeom>
          <a:solidFill>
            <a:srgbClr val="E8A33D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66825" y="971550"/>
            <a:ext cx="36335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spc="180" kern="0" dirty="0">
                <a:solidFill>
                  <a:srgbClr val="A97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 03 · EXEMPLO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543050"/>
            <a:ext cx="13488248" cy="82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0" spc="-60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QuickSort: ranquear </a:t>
            </a:r>
            <a:pPr algn="l" indent="0" marL="0">
              <a:lnSpc>
                <a:spcPct val="102000"/>
              </a:lnSpc>
              <a:buNone/>
            </a:pPr>
            <a:r>
              <a:rPr lang="en-US" sz="6000" i="1" spc="-60" kern="0" dirty="0">
                <a:solidFill>
                  <a:srgbClr val="B84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scores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1143000" y="4281934"/>
            <a:ext cx="438150" cy="438150"/>
          </a:xfrm>
          <a:prstGeom prst="ellipse">
            <a:avLst/>
          </a:prstGeom>
          <a:solidFill>
            <a:srgbClr val="A9711A"/>
          </a:solidFill>
          <a:ln/>
        </p:spPr>
      </p:sp>
      <p:sp>
        <p:nvSpPr>
          <p:cNvPr id="6" name="Text 4"/>
          <p:cNvSpPr/>
          <p:nvPr/>
        </p:nvSpPr>
        <p:spPr>
          <a:xfrm>
            <a:off x="1104900" y="4281934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14500" y="4129534"/>
            <a:ext cx="274701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Pivô =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 do meio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(63)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4667250" y="4205734"/>
            <a:ext cx="59055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3925" y="4215259"/>
            <a:ext cx="4572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5372100" y="4205734"/>
            <a:ext cx="59055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38775" y="4215259"/>
            <a:ext cx="4572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6076950" y="4205734"/>
            <a:ext cx="59055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3625" y="4215259"/>
            <a:ext cx="4572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6781800" y="4205734"/>
            <a:ext cx="590550" cy="590550"/>
          </a:xfrm>
          <a:prstGeom prst="roundRect">
            <a:avLst>
              <a:gd name="adj" fmla="val 19355"/>
            </a:avLst>
          </a:prstGeom>
          <a:solidFill>
            <a:srgbClr val="E8A33D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48475" y="4215259"/>
            <a:ext cx="4572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3A2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7486650" y="4205734"/>
            <a:ext cx="59055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3325" y="4215259"/>
            <a:ext cx="4572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8191500" y="4205734"/>
            <a:ext cx="59055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58175" y="4215259"/>
            <a:ext cx="4572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143000" y="5653534"/>
            <a:ext cx="438150" cy="438150"/>
          </a:xfrm>
          <a:prstGeom prst="ellipse">
            <a:avLst/>
          </a:prstGeom>
          <a:solidFill>
            <a:srgbClr val="A9711A"/>
          </a:solidFill>
          <a:ln/>
        </p:spPr>
      </p:sp>
      <p:sp>
        <p:nvSpPr>
          <p:cNvPr id="21" name="Text 19"/>
          <p:cNvSpPr/>
          <p:nvPr/>
        </p:nvSpPr>
        <p:spPr>
          <a:xfrm>
            <a:off x="1104900" y="5653534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14500" y="5315396"/>
            <a:ext cx="2747010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Particiona: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B845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maiores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esquerda,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menores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direita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4667250" y="5253484"/>
            <a:ext cx="23050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144" kern="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MAIORES QUE 63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667250" y="5672584"/>
            <a:ext cx="2228850" cy="819150"/>
          </a:xfrm>
          <a:prstGeom prst="roundRect">
            <a:avLst>
              <a:gd name="adj" fmla="val 16279"/>
            </a:avLst>
          </a:prstGeom>
          <a:solidFill>
            <a:srgbClr val="F2E9DA"/>
          </a:solidFill>
          <a:ln/>
        </p:spPr>
      </p:sp>
      <p:sp>
        <p:nvSpPr>
          <p:cNvPr id="25" name="Shape 23"/>
          <p:cNvSpPr/>
          <p:nvPr/>
        </p:nvSpPr>
        <p:spPr>
          <a:xfrm>
            <a:off x="4781550" y="5786884"/>
            <a:ext cx="59055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8225" y="5796409"/>
            <a:ext cx="4572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5486400" y="5786884"/>
            <a:ext cx="590550" cy="590550"/>
          </a:xfrm>
          <a:prstGeom prst="roundRect">
            <a:avLst>
              <a:gd name="adj" fmla="val 19355"/>
            </a:avLst>
          </a:prstGeom>
          <a:solidFill>
            <a:srgbClr val="E8A33D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3075" y="5796409"/>
            <a:ext cx="4572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3A2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6191250" y="5786884"/>
            <a:ext cx="59055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7925" y="5796409"/>
            <a:ext cx="4572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7086600" y="5901184"/>
            <a:ext cx="621953" cy="590550"/>
          </a:xfrm>
          <a:prstGeom prst="roundRect">
            <a:avLst>
              <a:gd name="adj" fmla="val 19355"/>
            </a:avLst>
          </a:prstGeom>
          <a:solidFill>
            <a:srgbClr val="2D5A4F">
              <a:alpha val="10000"/>
            </a:srgbClr>
          </a:solidFill>
          <a:ln w="9525">
            <a:solidFill>
              <a:srgbClr val="2D5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3275" y="5910709"/>
            <a:ext cx="48860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7899053" y="5253484"/>
            <a:ext cx="1600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144" kern="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MENORES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899053" y="5672584"/>
            <a:ext cx="1524000" cy="819150"/>
          </a:xfrm>
          <a:prstGeom prst="roundRect">
            <a:avLst>
              <a:gd name="adj" fmla="val 16279"/>
            </a:avLst>
          </a:prstGeom>
          <a:solidFill>
            <a:srgbClr val="F2E9DA"/>
          </a:solidFill>
          <a:ln/>
        </p:spPr>
      </p:sp>
      <p:sp>
        <p:nvSpPr>
          <p:cNvPr id="35" name="Shape 33"/>
          <p:cNvSpPr/>
          <p:nvPr/>
        </p:nvSpPr>
        <p:spPr>
          <a:xfrm>
            <a:off x="8013353" y="5786884"/>
            <a:ext cx="59055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80028" y="5796409"/>
            <a:ext cx="4572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8718203" y="5786884"/>
            <a:ext cx="590550" cy="590550"/>
          </a:xfrm>
          <a:prstGeom prst="roundRect">
            <a:avLst>
              <a:gd name="adj" fmla="val 19355"/>
            </a:avLst>
          </a:prstGeom>
          <a:solidFill>
            <a:srgbClr val="E8A33D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84878" y="5796409"/>
            <a:ext cx="4572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3A2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2250" dirty="0"/>
          </a:p>
        </p:txBody>
      </p:sp>
      <p:sp>
        <p:nvSpPr>
          <p:cNvPr id="39" name="Shape 37"/>
          <p:cNvSpPr/>
          <p:nvPr/>
        </p:nvSpPr>
        <p:spPr>
          <a:xfrm>
            <a:off x="1143000" y="7025134"/>
            <a:ext cx="438150" cy="438150"/>
          </a:xfrm>
          <a:prstGeom prst="ellipse">
            <a:avLst/>
          </a:prstGeom>
          <a:solidFill>
            <a:srgbClr val="A9711A"/>
          </a:solidFill>
          <a:ln/>
        </p:spPr>
      </p:sp>
      <p:sp>
        <p:nvSpPr>
          <p:cNvPr id="40" name="Text 38"/>
          <p:cNvSpPr/>
          <p:nvPr/>
        </p:nvSpPr>
        <p:spPr>
          <a:xfrm>
            <a:off x="1104900" y="7025134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714500" y="6872734"/>
            <a:ext cx="274701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bloco repete e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4667250" y="6948934"/>
            <a:ext cx="590550" cy="590550"/>
          </a:xfrm>
          <a:prstGeom prst="roundRect">
            <a:avLst>
              <a:gd name="adj" fmla="val 19355"/>
            </a:avLst>
          </a:prstGeom>
          <a:solidFill>
            <a:srgbClr val="2D5A4F">
              <a:alpha val="10000"/>
            </a:srgbClr>
          </a:solidFill>
          <a:ln w="9525">
            <a:solidFill>
              <a:srgbClr val="2D5A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3925" y="6958459"/>
            <a:ext cx="4572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endParaRPr lang="en-US" sz="2250" dirty="0"/>
          </a:p>
        </p:txBody>
      </p:sp>
      <p:sp>
        <p:nvSpPr>
          <p:cNvPr id="44" name="Shape 42"/>
          <p:cNvSpPr/>
          <p:nvPr/>
        </p:nvSpPr>
        <p:spPr>
          <a:xfrm>
            <a:off x="5372100" y="6948934"/>
            <a:ext cx="590550" cy="590550"/>
          </a:xfrm>
          <a:prstGeom prst="roundRect">
            <a:avLst>
              <a:gd name="adj" fmla="val 19355"/>
            </a:avLst>
          </a:prstGeom>
          <a:solidFill>
            <a:srgbClr val="2D5A4F">
              <a:alpha val="10000"/>
            </a:srgbClr>
          </a:solidFill>
          <a:ln w="9525">
            <a:solidFill>
              <a:srgbClr val="2D5A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38775" y="6958459"/>
            <a:ext cx="4572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</a:t>
            </a:r>
            <a:endParaRPr lang="en-US" sz="2250" dirty="0"/>
          </a:p>
        </p:txBody>
      </p:sp>
      <p:sp>
        <p:nvSpPr>
          <p:cNvPr id="46" name="Shape 44"/>
          <p:cNvSpPr/>
          <p:nvPr/>
        </p:nvSpPr>
        <p:spPr>
          <a:xfrm>
            <a:off x="6076950" y="6948934"/>
            <a:ext cx="590550" cy="590550"/>
          </a:xfrm>
          <a:prstGeom prst="roundRect">
            <a:avLst>
              <a:gd name="adj" fmla="val 19355"/>
            </a:avLst>
          </a:prstGeom>
          <a:solidFill>
            <a:srgbClr val="2D5A4F">
              <a:alpha val="10000"/>
            </a:srgbClr>
          </a:solidFill>
          <a:ln w="9525">
            <a:solidFill>
              <a:srgbClr val="2D5A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43625" y="6958459"/>
            <a:ext cx="4572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endParaRPr lang="en-US" sz="2250" dirty="0"/>
          </a:p>
        </p:txBody>
      </p:sp>
      <p:sp>
        <p:nvSpPr>
          <p:cNvPr id="48" name="Shape 46"/>
          <p:cNvSpPr/>
          <p:nvPr/>
        </p:nvSpPr>
        <p:spPr>
          <a:xfrm>
            <a:off x="6781800" y="6948934"/>
            <a:ext cx="590550" cy="590550"/>
          </a:xfrm>
          <a:prstGeom prst="roundRect">
            <a:avLst>
              <a:gd name="adj" fmla="val 19355"/>
            </a:avLst>
          </a:prstGeom>
          <a:solidFill>
            <a:srgbClr val="2D5A4F">
              <a:alpha val="10000"/>
            </a:srgbClr>
          </a:solidFill>
          <a:ln w="9525">
            <a:solidFill>
              <a:srgbClr val="2D5A4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48475" y="6958459"/>
            <a:ext cx="4572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</a:t>
            </a:r>
            <a:endParaRPr lang="en-US" sz="2250" dirty="0"/>
          </a:p>
        </p:txBody>
      </p:sp>
      <p:sp>
        <p:nvSpPr>
          <p:cNvPr id="50" name="Shape 48"/>
          <p:cNvSpPr/>
          <p:nvPr/>
        </p:nvSpPr>
        <p:spPr>
          <a:xfrm>
            <a:off x="7486650" y="6948934"/>
            <a:ext cx="590550" cy="590550"/>
          </a:xfrm>
          <a:prstGeom prst="roundRect">
            <a:avLst>
              <a:gd name="adj" fmla="val 19355"/>
            </a:avLst>
          </a:prstGeom>
          <a:solidFill>
            <a:srgbClr val="2D5A4F">
              <a:alpha val="10000"/>
            </a:srgbClr>
          </a:solidFill>
          <a:ln w="9525">
            <a:solidFill>
              <a:srgbClr val="2D5A4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53325" y="6958459"/>
            <a:ext cx="4572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</a:t>
            </a:r>
            <a:endParaRPr lang="en-US" sz="2250" dirty="0"/>
          </a:p>
        </p:txBody>
      </p:sp>
      <p:sp>
        <p:nvSpPr>
          <p:cNvPr id="52" name="Shape 50"/>
          <p:cNvSpPr/>
          <p:nvPr/>
        </p:nvSpPr>
        <p:spPr>
          <a:xfrm>
            <a:off x="8191500" y="6948934"/>
            <a:ext cx="590550" cy="590550"/>
          </a:xfrm>
          <a:prstGeom prst="roundRect">
            <a:avLst>
              <a:gd name="adj" fmla="val 19355"/>
            </a:avLst>
          </a:prstGeom>
          <a:solidFill>
            <a:srgbClr val="2D5A4F">
              <a:alpha val="10000"/>
            </a:srgbClr>
          </a:solidFill>
          <a:ln w="9525">
            <a:solidFill>
              <a:srgbClr val="2D5A4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58175" y="6958459"/>
            <a:ext cx="4572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2250" dirty="0"/>
          </a:p>
        </p:txBody>
      </p:sp>
      <p:sp>
        <p:nvSpPr>
          <p:cNvPr id="54" name="Text 52"/>
          <p:cNvSpPr/>
          <p:nvPr/>
        </p:nvSpPr>
        <p:spPr>
          <a:xfrm>
            <a:off x="1143000" y="9129713"/>
            <a:ext cx="1648206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pronto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do maior para o menor score — </a:t>
            </a:r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A971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caso médio.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14400"/>
            <a:ext cx="2167979" cy="457200"/>
          </a:xfrm>
          <a:prstGeom prst="roundRect">
            <a:avLst>
              <a:gd name="adj" fmla="val 16667"/>
            </a:avLst>
          </a:prstGeom>
          <a:solidFill>
            <a:srgbClr val="2D5A4F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66825" y="971550"/>
            <a:ext cx="19965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spc="180" kern="0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543050"/>
            <a:ext cx="12524802" cy="1601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0" spc="-60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Dijkstra desenha o </a:t>
            </a:r>
            <a:pPr algn="l" indent="0" marL="0">
              <a:lnSpc>
                <a:spcPct val="102000"/>
              </a:lnSpc>
              <a:buNone/>
            </a:pPr>
            <a:r>
              <a:rPr lang="en-US" sz="6000" i="1" spc="-60" kern="0" dirty="0">
                <a:solidFill>
                  <a:srgbClr val="B84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melhor trajeto </a:t>
            </a:r>
            <a:pPr algn="l" indent="0" marL="0">
              <a:lnSpc>
                <a:spcPct val="102000"/>
              </a:lnSpc>
              <a:buNone/>
            </a:pPr>
            <a:r>
              <a:rPr lang="en-US" sz="6000" spc="-60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mapa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1143000" y="3487936"/>
            <a:ext cx="8635901" cy="5998964"/>
          </a:xfrm>
          <a:prstGeom prst="roundRect">
            <a:avLst>
              <a:gd name="adj" fmla="val 2858"/>
            </a:avLst>
          </a:prstGeom>
          <a:ln w="9525">
            <a:solidFill>
              <a:srgbClr val="E6DCC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52525" y="3497461"/>
            <a:ext cx="8616851" cy="59799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36101" y="4033242"/>
            <a:ext cx="7116013" cy="1375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o 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grafo ponderado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bairros, calcula o caminho mínimo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B84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motorista → passageiro → universidade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3D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exibe no Leaflet.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0236101" y="5656213"/>
            <a:ext cx="2188518" cy="1332607"/>
          </a:xfrm>
          <a:prstGeom prst="roundRect">
            <a:avLst>
              <a:gd name="adj" fmla="val 12866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60894" y="5894338"/>
            <a:ext cx="738783" cy="513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0,6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10674846" y="6407795"/>
            <a:ext cx="131087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 TOTAIS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2596068" y="5656213"/>
            <a:ext cx="2188666" cy="1332607"/>
          </a:xfrm>
          <a:prstGeom prst="roundRect">
            <a:avLst>
              <a:gd name="adj" fmla="val 12866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554075" y="5894338"/>
            <a:ext cx="272653" cy="513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12966353" y="6407795"/>
            <a:ext cx="14480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ESTIM.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4956185" y="5656213"/>
            <a:ext cx="2188666" cy="1332607"/>
          </a:xfrm>
          <a:prstGeom prst="roundRect">
            <a:avLst>
              <a:gd name="adj" fmla="val 12866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317093" y="5894338"/>
            <a:ext cx="1466850" cy="513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B84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R$1,57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15463689" y="6407795"/>
            <a:ext cx="11736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ECONOMIA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0236101" y="7274570"/>
            <a:ext cx="6908750" cy="1666875"/>
          </a:xfrm>
          <a:prstGeom prst="roundRect">
            <a:avLst>
              <a:gd name="adj" fmla="val 10286"/>
            </a:avLst>
          </a:prstGeom>
          <a:solidFill>
            <a:srgbClr val="F2E9DA"/>
          </a:solidFill>
          <a:ln/>
        </p:spPr>
      </p:sp>
      <p:sp>
        <p:nvSpPr>
          <p:cNvPr id="18" name="Shape 15"/>
          <p:cNvSpPr/>
          <p:nvPr/>
        </p:nvSpPr>
        <p:spPr>
          <a:xfrm>
            <a:off x="10236101" y="8931920"/>
            <a:ext cx="6908750" cy="9525"/>
          </a:xfrm>
          <a:prstGeom prst="rect">
            <a:avLst/>
          </a:prstGeom>
          <a:solidFill>
            <a:srgbClr val="E6DCC9"/>
          </a:solidFill>
          <a:ln/>
        </p:spPr>
      </p:sp>
      <p:sp>
        <p:nvSpPr>
          <p:cNvPr id="19" name="Shape 16"/>
          <p:cNvSpPr/>
          <p:nvPr/>
        </p:nvSpPr>
        <p:spPr>
          <a:xfrm>
            <a:off x="10236101" y="7274570"/>
            <a:ext cx="6908750" cy="9525"/>
          </a:xfrm>
          <a:prstGeom prst="rect">
            <a:avLst/>
          </a:prstGeom>
          <a:solidFill>
            <a:srgbClr val="E6DCC9"/>
          </a:solidFill>
          <a:ln/>
        </p:spPr>
      </p:sp>
      <p:sp>
        <p:nvSpPr>
          <p:cNvPr id="20" name="Shape 17"/>
          <p:cNvSpPr/>
          <p:nvPr/>
        </p:nvSpPr>
        <p:spPr>
          <a:xfrm>
            <a:off x="10236101" y="7274570"/>
            <a:ext cx="28575" cy="1666875"/>
          </a:xfrm>
          <a:prstGeom prst="rect">
            <a:avLst/>
          </a:prstGeom>
          <a:solidFill>
            <a:srgbClr val="2D5A4F"/>
          </a:solidFill>
          <a:ln/>
        </p:spPr>
      </p:sp>
      <p:sp>
        <p:nvSpPr>
          <p:cNvPr id="21" name="Shape 18"/>
          <p:cNvSpPr/>
          <p:nvPr/>
        </p:nvSpPr>
        <p:spPr>
          <a:xfrm>
            <a:off x="17135326" y="7274570"/>
            <a:ext cx="9525" cy="1666875"/>
          </a:xfrm>
          <a:prstGeom prst="rect">
            <a:avLst/>
          </a:prstGeom>
          <a:solidFill>
            <a:srgbClr val="E6DCC9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576" y="7607945"/>
            <a:ext cx="637039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252" kern="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COMPLEXIDADE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0607576" y="8007995"/>
            <a:ext cx="637039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150" b="1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O((V+E)·log V)</a:t>
            </a:r>
            <a:endParaRPr lang="en-US" sz="3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4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396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EFICIÊNCIA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1561356" cy="82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0" spc="-60" kern="0" dirty="0">
                <a:solidFill>
                  <a:srgbClr val="F4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Ingênua </a:t>
            </a:r>
            <a:pPr algn="l" indent="0" marL="0">
              <a:lnSpc>
                <a:spcPct val="102000"/>
              </a:lnSpc>
              <a:buNone/>
            </a:pPr>
            <a:r>
              <a:rPr lang="en-US" sz="6000" i="1" spc="-60" kern="0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</a:t>
            </a:r>
            <a:pPr algn="l" indent="0" marL="0">
              <a:lnSpc>
                <a:spcPct val="102000"/>
              </a:lnSpc>
              <a:buNone/>
            </a:pPr>
            <a:r>
              <a:rPr lang="en-US" sz="6000" spc="-60" kern="0" dirty="0">
                <a:solidFill>
                  <a:srgbClr val="F4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nossa solução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43000" y="3934271"/>
            <a:ext cx="6858000" cy="9525"/>
          </a:xfrm>
          <a:prstGeom prst="rect">
            <a:avLst/>
          </a:prstGeom>
          <a:solidFill>
            <a:srgbClr val="473A2E"/>
          </a:solidFill>
          <a:ln/>
        </p:spPr>
      </p:sp>
      <p:sp>
        <p:nvSpPr>
          <p:cNvPr id="5" name="Text 3"/>
          <p:cNvSpPr/>
          <p:nvPr/>
        </p:nvSpPr>
        <p:spPr>
          <a:xfrm>
            <a:off x="1409700" y="2882205"/>
            <a:ext cx="6530340" cy="880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OPERAÇÃO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01000" y="3934271"/>
            <a:ext cx="4572000" cy="9525"/>
          </a:xfrm>
          <a:prstGeom prst="rect">
            <a:avLst/>
          </a:prstGeom>
          <a:solidFill>
            <a:srgbClr val="473A2E"/>
          </a:solidFill>
          <a:ln/>
        </p:spPr>
      </p:sp>
      <p:sp>
        <p:nvSpPr>
          <p:cNvPr id="7" name="Text 5"/>
          <p:cNvSpPr/>
          <p:nvPr/>
        </p:nvSpPr>
        <p:spPr>
          <a:xfrm>
            <a:off x="8130540" y="2882205"/>
            <a:ext cx="4175760" cy="880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SOLUÇÃO INGÊNUA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573000" y="3934271"/>
            <a:ext cx="4572000" cy="9525"/>
          </a:xfrm>
          <a:prstGeom prst="rect">
            <a:avLst/>
          </a:prstGeom>
          <a:solidFill>
            <a:srgbClr val="473A2E"/>
          </a:solidFill>
          <a:ln/>
        </p:spPr>
      </p:sp>
      <p:sp>
        <p:nvSpPr>
          <p:cNvPr id="9" name="Text 7"/>
          <p:cNvSpPr/>
          <p:nvPr/>
        </p:nvSpPr>
        <p:spPr>
          <a:xfrm>
            <a:off x="12702540" y="2882205"/>
            <a:ext cx="4175760" cy="880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NOSSA SOLUÇÃO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5557838"/>
            <a:ext cx="6858000" cy="9525"/>
          </a:xfrm>
          <a:prstGeom prst="rect">
            <a:avLst/>
          </a:prstGeom>
          <a:solidFill>
            <a:srgbClr val="473A2E"/>
          </a:solidFill>
          <a:ln/>
        </p:spPr>
      </p:sp>
      <p:sp>
        <p:nvSpPr>
          <p:cNvPr id="11" name="Text 9"/>
          <p:cNvSpPr/>
          <p:nvPr/>
        </p:nvSpPr>
        <p:spPr>
          <a:xfrm>
            <a:off x="1409700" y="4229546"/>
            <a:ext cx="6530340" cy="1080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4E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usuários por bairro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001000" y="5557838"/>
            <a:ext cx="4572000" cy="9525"/>
          </a:xfrm>
          <a:prstGeom prst="rect">
            <a:avLst/>
          </a:prstGeom>
          <a:solidFill>
            <a:srgbClr val="473A2E"/>
          </a:solidFill>
          <a:ln/>
        </p:spPr>
      </p:sp>
      <p:sp>
        <p:nvSpPr>
          <p:cNvPr id="13" name="Text 11"/>
          <p:cNvSpPr/>
          <p:nvPr/>
        </p:nvSpPr>
        <p:spPr>
          <a:xfrm>
            <a:off x="11361241" y="4479280"/>
            <a:ext cx="94505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850" dirty="0">
                <a:solidFill>
                  <a:srgbClr val="C9B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12573000" y="5557838"/>
            <a:ext cx="4572000" cy="9525"/>
          </a:xfrm>
          <a:prstGeom prst="rect">
            <a:avLst/>
          </a:prstGeom>
          <a:solidFill>
            <a:srgbClr val="473A2E"/>
          </a:solidFill>
          <a:ln/>
        </p:spPr>
      </p:sp>
      <p:sp>
        <p:nvSpPr>
          <p:cNvPr id="15" name="Text 13"/>
          <p:cNvSpPr/>
          <p:nvPr/>
        </p:nvSpPr>
        <p:spPr>
          <a:xfrm>
            <a:off x="15933390" y="4479280"/>
            <a:ext cx="94491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8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1143000" y="7181404"/>
            <a:ext cx="6858000" cy="9525"/>
          </a:xfrm>
          <a:prstGeom prst="rect">
            <a:avLst/>
          </a:prstGeom>
          <a:solidFill>
            <a:srgbClr val="473A2E"/>
          </a:solidFill>
          <a:ln/>
        </p:spPr>
      </p:sp>
      <p:sp>
        <p:nvSpPr>
          <p:cNvPr id="17" name="Text 15"/>
          <p:cNvSpPr/>
          <p:nvPr/>
        </p:nvSpPr>
        <p:spPr>
          <a:xfrm>
            <a:off x="1409700" y="5853113"/>
            <a:ext cx="6530340" cy="1080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4E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Achar todos os compatíveis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001000" y="7181404"/>
            <a:ext cx="4572000" cy="9525"/>
          </a:xfrm>
          <a:prstGeom prst="rect">
            <a:avLst/>
          </a:prstGeom>
          <a:solidFill>
            <a:srgbClr val="473A2E"/>
          </a:solidFill>
          <a:ln/>
        </p:spPr>
      </p:sp>
      <p:sp>
        <p:nvSpPr>
          <p:cNvPr id="19" name="Text 17"/>
          <p:cNvSpPr/>
          <p:nvPr/>
        </p:nvSpPr>
        <p:spPr>
          <a:xfrm>
            <a:off x="11143952" y="6102846"/>
            <a:ext cx="1162348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850" dirty="0">
                <a:solidFill>
                  <a:srgbClr val="C9B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12573000" y="7181404"/>
            <a:ext cx="4572000" cy="9525"/>
          </a:xfrm>
          <a:prstGeom prst="rect">
            <a:avLst/>
          </a:prstGeom>
          <a:solidFill>
            <a:srgbClr val="473A2E"/>
          </a:solidFill>
          <a:ln/>
        </p:spPr>
      </p:sp>
      <p:sp>
        <p:nvSpPr>
          <p:cNvPr id="21" name="Text 19"/>
          <p:cNvSpPr/>
          <p:nvPr/>
        </p:nvSpPr>
        <p:spPr>
          <a:xfrm>
            <a:off x="15498961" y="6102846"/>
            <a:ext cx="137933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8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O(V+E)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1409700" y="7476679"/>
            <a:ext cx="6530340" cy="1080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4E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Ordenar os matches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1143952" y="7726412"/>
            <a:ext cx="1162348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850" dirty="0">
                <a:solidFill>
                  <a:srgbClr val="C9B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14630400" y="7726412"/>
            <a:ext cx="224790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8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2850" dirty="0"/>
          </a:p>
        </p:txBody>
      </p:sp>
      <p:sp>
        <p:nvSpPr>
          <p:cNvPr id="25" name="Text 23"/>
          <p:cNvSpPr/>
          <p:nvPr/>
        </p:nvSpPr>
        <p:spPr>
          <a:xfrm>
            <a:off x="902970" y="9090720"/>
            <a:ext cx="1648206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F4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10.000 estudantes, a ingênua levaria </a:t>
            </a:r>
            <a:pPr algn="ctr" indent="0" marL="0">
              <a:lnSpc>
                <a:spcPct val="104000"/>
              </a:lnSpc>
              <a:buNone/>
            </a:pPr>
            <a:r>
              <a:rPr lang="en-US" sz="3000" i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minutos</a:t>
            </a:r>
            <a:pPr algn="ctr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F4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A nossa responde em </a:t>
            </a:r>
            <a:pPr algn="ctr" indent="0" marL="0">
              <a:lnSpc>
                <a:spcPct val="104000"/>
              </a:lnSpc>
              <a:buNone/>
            </a:pPr>
            <a:r>
              <a:rPr lang="en-US" sz="3000" i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milissegundos</a:t>
            </a:r>
            <a:pPr algn="ctr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F4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396" kern="0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DEMONSTRAÇÃO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0597909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0" spc="-60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sistema, na prática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43000" y="2586930"/>
            <a:ext cx="5156150" cy="5764709"/>
          </a:xfrm>
          <a:prstGeom prst="roundRect">
            <a:avLst>
              <a:gd name="adj" fmla="val 2956"/>
            </a:avLst>
          </a:prstGeom>
          <a:ln w="9525">
            <a:solidFill>
              <a:srgbClr val="E6DCC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52525" y="2596455"/>
            <a:ext cx="5137100" cy="5745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8504039"/>
            <a:ext cx="531083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Cadastro &amp; rotas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143000" y="8801100"/>
            <a:ext cx="531083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 indexado por bairro na hash; rotas com horário e tipo.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565850" y="2586930"/>
            <a:ext cx="5156150" cy="5726609"/>
          </a:xfrm>
          <a:prstGeom prst="roundRect">
            <a:avLst>
              <a:gd name="adj" fmla="val 2956"/>
            </a:avLst>
          </a:prstGeom>
          <a:ln w="9525">
            <a:solidFill>
              <a:srgbClr val="E6DCC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75375" y="2596455"/>
            <a:ext cx="5137100" cy="57075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65850" y="8465939"/>
            <a:ext cx="531083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Busca ranqueada</a:t>
            </a:r>
            <a:endParaRPr lang="en-US" sz="2250" dirty="0"/>
          </a:p>
        </p:txBody>
      </p:sp>
      <p:sp>
        <p:nvSpPr>
          <p:cNvPr id="11" name="Text 7"/>
          <p:cNvSpPr/>
          <p:nvPr/>
        </p:nvSpPr>
        <p:spPr>
          <a:xfrm>
            <a:off x="6565850" y="8763000"/>
            <a:ext cx="531083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por score, com badges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· GRAFO · QUICKSORT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11988701" y="2586930"/>
            <a:ext cx="5156150" cy="5764709"/>
          </a:xfrm>
          <a:prstGeom prst="roundRect">
            <a:avLst>
              <a:gd name="adj" fmla="val 2956"/>
            </a:avLst>
          </a:prstGeom>
          <a:ln w="9525">
            <a:solidFill>
              <a:srgbClr val="E6DCC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998226" y="2596455"/>
            <a:ext cx="5137100" cy="57456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988701" y="8504039"/>
            <a:ext cx="531083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Mapa interativo</a:t>
            </a:r>
            <a:endParaRPr lang="en-US" sz="2250" dirty="0"/>
          </a:p>
        </p:txBody>
      </p:sp>
      <p:sp>
        <p:nvSpPr>
          <p:cNvPr id="15" name="Text 10"/>
          <p:cNvSpPr/>
          <p:nvPr/>
        </p:nvSpPr>
        <p:spPr>
          <a:xfrm>
            <a:off x="11988701" y="8801100"/>
            <a:ext cx="531083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Trajeto do Dijkstra com km, tempo e economia em R$.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396" kern="0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BENEFÍCIOS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0597909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0" spc="-60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ganhos, um só sistema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43000" y="2586930"/>
            <a:ext cx="3032671" cy="6899970"/>
          </a:xfrm>
          <a:prstGeom prst="roundRect">
            <a:avLst>
              <a:gd name="adj" fmla="val 5653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95425" y="2920305"/>
            <a:ext cx="240402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Econômico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95425" y="5489079"/>
            <a:ext cx="2404021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Combustível dividido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495425" y="8467725"/>
            <a:ext cx="240402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carona reduz o custo do estudante.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85221" y="2586930"/>
            <a:ext cx="3032820" cy="6899970"/>
          </a:xfrm>
          <a:prstGeom prst="roundRect">
            <a:avLst>
              <a:gd name="adj" fmla="val 5653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7646" y="2920305"/>
            <a:ext cx="24041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37646" y="5489079"/>
            <a:ext cx="2404170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Busca em milissegundos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4737646" y="8467725"/>
            <a:ext cx="240417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vez de minutos rolando o WhatsApp.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7590" y="2586930"/>
            <a:ext cx="3032671" cy="6899970"/>
          </a:xfrm>
          <a:prstGeom prst="roundRect">
            <a:avLst>
              <a:gd name="adj" fmla="val 5653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80015" y="2920305"/>
            <a:ext cx="240402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Ambiental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80015" y="5489079"/>
            <a:ext cx="2404021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 carros nas ruas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7980015" y="8467725"/>
            <a:ext cx="240402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trânsito e menos poluição.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869811" y="2586930"/>
            <a:ext cx="3032820" cy="6899970"/>
          </a:xfrm>
          <a:prstGeom prst="roundRect">
            <a:avLst>
              <a:gd name="adj" fmla="val 5653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22236" y="2920305"/>
            <a:ext cx="24041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22236" y="5317629"/>
            <a:ext cx="2404170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Motoristas avaliados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1222236" y="8124825"/>
            <a:ext cx="240417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Estudantes se conhecem e ganham segurança.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4112180" y="2586930"/>
            <a:ext cx="3032671" cy="6899970"/>
          </a:xfrm>
          <a:prstGeom prst="roundRect">
            <a:avLst>
              <a:gd name="adj" fmla="val 5653"/>
            </a:avLst>
          </a:prstGeom>
          <a:solidFill>
            <a:srgbClr val="FFFFFF"/>
          </a:solidFill>
          <a:ln w="9525">
            <a:solidFill>
              <a:srgbClr val="E6DC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464605" y="2920305"/>
            <a:ext cx="240402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5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Acadêmico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464605" y="5489079"/>
            <a:ext cx="2404021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Teoria que anda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14464605" y="8467725"/>
            <a:ext cx="240402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vivo das estruturas de dados.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4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47737"/>
            <a:ext cx="361950" cy="361950"/>
          </a:xfrm>
          <a:prstGeom prst="ellipse">
            <a:avLst/>
          </a:prstGeom>
          <a:solidFill>
            <a:srgbClr val="D65F33"/>
          </a:solidFill>
          <a:ln/>
        </p:spPr>
      </p:sp>
      <p:sp>
        <p:nvSpPr>
          <p:cNvPr id="3" name="Text 1"/>
          <p:cNvSpPr/>
          <p:nvPr/>
        </p:nvSpPr>
        <p:spPr>
          <a:xfrm>
            <a:off x="1657350" y="914400"/>
            <a:ext cx="252427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F4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Carona </a:t>
            </a:r>
            <a:pPr algn="l" indent="0" marL="0">
              <a:lnSpc>
                <a:spcPct val="150000"/>
              </a:lnSpc>
              <a:buNone/>
            </a:pPr>
            <a:r>
              <a:rPr lang="en-US" sz="2250" i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Universidades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143000" y="3349377"/>
            <a:ext cx="164820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396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ENCERRAMENTO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3978027"/>
            <a:ext cx="13873627" cy="2854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spc="-72" kern="0" dirty="0">
                <a:solidFill>
                  <a:srgbClr val="F4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 de dados não é teoria isolada — é </a:t>
            </a:r>
            <a:pPr algn="l" indent="0" marL="0">
              <a:lnSpc>
                <a:spcPct val="102000"/>
              </a:lnSpc>
              <a:buNone/>
            </a:pPr>
            <a:r>
              <a:rPr lang="en-US" sz="7200" i="1" spc="-72" kern="0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carona chegando no horário </a:t>
            </a:r>
            <a:pPr algn="l" indent="0" marL="0">
              <a:lnSpc>
                <a:spcPct val="102000"/>
              </a:lnSpc>
              <a:buNone/>
            </a:pPr>
            <a:r>
              <a:rPr lang="en-US" sz="7200" spc="-72" kern="0" dirty="0">
                <a:solidFill>
                  <a:srgbClr val="F4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143000" y="9051131"/>
            <a:ext cx="4136457" cy="473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4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Obrigado. </a:t>
            </a:r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C9B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Perguntas?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3753853" y="8801100"/>
            <a:ext cx="339114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9B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 · Estruturas de Dados e Análise de Algoritmos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2026-06-07T22:30:34Z</dcterms:created>
  <dcterms:modified xsi:type="dcterms:W3CDTF">2026-06-07T22:30:34Z</dcterms:modified>
</cp:coreProperties>
</file>